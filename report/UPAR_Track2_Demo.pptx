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Space Grotesk" pitchFamily="34" charset="0"/>
      <p:regular r:id="rId18"/>
      <p:bold r:id="rId19"/>
    </p:embeddedFon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presenting our entry to Track 2 of the UPAR Challenge at the Real-World Surveillance workshop at WACV 2027: attribute-based person retrieval. In five minutes: the task, our approach, results, the problems we hit, and our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2 is attribute-based person retrieval. A query is a full description with 40 binary attributes, like adult female with long hair, a red short-sleeved top, black trousers and a backpack. For each query we rank a whole gallery of pedestrian crops. The gallery comes from cameras we never see, the score is mADM, which gives partial credit for near misses, and we submit code that runs on their GPU without internet in under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has two steps. First, a CLIP ViT-B/16, fine-tuned by us, predicts 40 attribute probabilities for each gallery image; we average the image and its mirror. Second, we score every query against every image and sort. We chose CLIP because its web-scale pretraining generalises to unseen cameras, and the rules explicitly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choices follow the data. Surveillance crops are small and blurry, so we simulate low resolution. Colour is one of the labels, so we never shift hue. We fine-tune gently with layer-wise learning-rate decay, and keep plain BCE plus an EMA of the weights, because our ranking relies on well-calibrated probabilities. Everything trained on a free Colab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are proudest of. The starter kit ranks by L1 distance, which treats a confident mistake like an uncertain one. We use the log-likelihood that the image shows exactly the query, so one confident contradiction is enough to push an image down. We add an agreement term for near misses, which mADM rewards, and a normalisation across queries, since every image matches exactly one query. All weights were tuned on the validation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validation set, the organiser baseline, which ignores the pixels, gets 0.113 mADM. Our CLIP model with the starter kit's L1 ranking reaches 0.694. Switching to likelihood scoring gives 0.735, and the agreement term with query normalisation gives 0.746. That last jump comes from the same model with no extra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surprise from training. The training loss keeps falling for all ten epochs, but validation mADM peaks after three epochs at 0.737 and then declines to 0.708. The model starts memorising the three source datasets. With a hidden test domain this matters a lot, so our submission uses the 3-epoch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model fail? This chart shows balanced accuracy per attribute on validation. Easy attributes like gender and clothing length are above 95 percent. The hardest are sunglasses, the catch-all other colour, and rare colours like orange or green trousers with under two percent positives. Because one wrong attribute breaks an exact match, these rare errors dominate the retrieval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made this hard. The test cameras are unseen, and validation showed longer training hurts. A subtle one: PyTorch says the T4 supports bfloat16, but it is emulated, which made training four and a half times slower until we caught it. Free Colab quotas cut us off, so we made training resumable. And the evaluation container is offline with only plain PyTorch, so we re-implemented CLIP ourselves and checked it matches the official outputs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hidden test set our final submission, an ensemble of the train-only and the train-plus-val models, reaches 0.624 mADM and finished 32nd; the winner had 0.699. Adding the validation data alone was slightly worse, because it is more of the same three datasets, while averaging the two models improved every metric. Our test mAP is as good as on validation, so the remaining gap is in how near misses are ordered on new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time we would ensemble several models for better-calibrated probabilities, add heads that respect one-of-many attribute groups, train harder on rare attributes, and try a loss that optimises the ranking directly.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0"/>
            <a:ext cx="10566400" cy="409194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0"/>
            <a:ext cx="10566400" cy="409194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FB2F0"/>
                </a:solidFill>
                <a:latin typeface="JetBrains Mono" pitchFamily="49" charset="0"/>
                <a:ea typeface="JetBrains Mono" pitchFamily="49" charset="-122"/>
                <a:cs typeface="JetBrains Mono" pitchFamily="49" charset="-120"/>
              </a:rPr>
              <a:t>UPAR CHALLENGE 2027 · TRACK 2 · RWS @ WACV 2027</a:t>
            </a:r>
            <a:endParaRPr lang="en-US" sz="1400" dirty="0"/>
          </a:p>
        </p:txBody>
      </p:sp>
      <p:sp>
        <p:nvSpPr>
          <p:cNvPr id="3" name="Text 1"/>
          <p:cNvSpPr/>
          <p:nvPr>
            <p:ph type="title"/>
          </p:nvPr>
        </p:nvSpPr>
        <p:spPr>
          <a:xfrm>
            <a:off x="812800" y="21488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Space Grotesk" pitchFamily="34" charset="0"/>
                <a:ea typeface="Space Grotesk" pitchFamily="34" charset="-122"/>
                <a:cs typeface="Space Grotesk" pitchFamily="34" charset="-120"/>
              </a:rPr>
              <a:t>Finding people</a:t>
            </a:r>
            <a:endParaRPr lang="en-US" sz="6000" dirty="0"/>
          </a:p>
          <a:p>
            <a:pPr algn="l" indent="0" marL="0">
              <a:lnSpc>
                <a:spcPts val="6300"/>
              </a:lnSpc>
              <a:buNone/>
            </a:pPr>
            <a:r>
              <a:rPr lang="en-US" sz="6000" b="1" i="0" dirty="0">
                <a:solidFill>
                  <a:srgbClr val="F7F6F2"/>
                </a:solidFill>
                <a:latin typeface="Space Grotesk" pitchFamily="34" charset="0"/>
                <a:ea typeface="Space Grotesk" pitchFamily="34" charset="-122"/>
                <a:cs typeface="Space Grotesk" pitchFamily="34" charset="-120"/>
              </a:rPr>
              <a:t>by description</a:t>
            </a:r>
            <a:endParaRPr lang="en-US" sz="6000" dirty="0"/>
          </a:p>
        </p:txBody>
      </p:sp>
      <p:sp>
        <p:nvSpPr>
          <p:cNvPr id="4" name="Text 2"/>
          <p:cNvSpPr/>
          <p:nvPr/>
        </p:nvSpPr>
        <p:spPr>
          <a:xfrm>
            <a:off x="812800" y="400304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CE0"/>
                </a:solidFill>
                <a:latin typeface="IBM Plex Sans" pitchFamily="34" charset="0"/>
                <a:ea typeface="IBM Plex Sans" pitchFamily="34" charset="-122"/>
                <a:cs typeface="IBM Plex Sans" pitchFamily="34" charset="-120"/>
              </a:rPr>
              <a:t>Attribute-based person retrieval with a fine-tuned CLIP ViT and likelihood ranking</a:t>
            </a:r>
            <a:endParaRPr lang="en-US" sz="2200" dirty="0"/>
          </a:p>
        </p:txBody>
      </p:sp>
      <p:sp>
        <p:nvSpPr>
          <p:cNvPr id="5" name="Text 3"/>
          <p:cNvSpPr/>
          <p:nvPr/>
        </p:nvSpPr>
        <p:spPr>
          <a:xfrm>
            <a:off x="812800" y="54533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Arsh Al Aman (23K-0078) · Rao Ghulam Mohiuddin (23K-0001) · Sheikh Naveed Azeemi (23K-0003)</a:t>
            </a:r>
            <a:endParaRPr lang="en-US" sz="16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CE0"/>
                </a:solidFill>
                <a:latin typeface="IBM Plex Sans" pitchFamily="34" charset="0"/>
                <a:ea typeface="IBM Plex Sans" pitchFamily="34" charset="-122"/>
                <a:cs typeface="IBM Plex Sans" pitchFamily="34" charset="-120"/>
              </a:rPr>
              <a:t>FAST National University of Computer and Emerging Sciences · Computer Vision · Instructor: Mr. Syed Bilal Ahsan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THE TASK</a:t>
            </a:r>
            <a:endParaRPr lang="en-US" sz="1300" dirty="0"/>
          </a:p>
        </p:txBody>
      </p:sp>
      <p:sp>
        <p:nvSpPr>
          <p:cNvPr id="3" name="Text 1"/>
          <p:cNvSpPr/>
          <p:nvPr>
            <p:ph type="title"/>
          </p:nvPr>
        </p:nvSpPr>
        <p:spPr>
          <a:xfrm>
            <a:off x="812800" y="114554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The query is a description, not a photo</a:t>
            </a:r>
            <a:endParaRPr lang="en-US" sz="3600" dirty="0"/>
          </a:p>
        </p:txBody>
      </p:sp>
      <p:sp>
        <p:nvSpPr>
          <p:cNvPr id="4" name="Shape 2"/>
          <p:cNvSpPr/>
          <p:nvPr/>
        </p:nvSpPr>
        <p:spPr>
          <a:xfrm>
            <a:off x="819150" y="2010410"/>
            <a:ext cx="4711700" cy="1587500"/>
          </a:xfrm>
          <a:prstGeom prst="roundRect">
            <a:avLst>
              <a:gd name="adj" fmla="val 7600"/>
            </a:avLst>
          </a:prstGeom>
          <a:solidFill>
            <a:srgbClr val="FFFFFF"/>
          </a:solidFill>
          <a:ln w="12700">
            <a:solidFill>
              <a:srgbClr val="DCE3EC"/>
            </a:solidFill>
            <a:prstDash val="solid"/>
          </a:ln>
        </p:spPr>
      </p:sp>
      <p:sp>
        <p:nvSpPr>
          <p:cNvPr id="5" name="Text 3"/>
          <p:cNvSpPr/>
          <p:nvPr/>
        </p:nvSpPr>
        <p:spPr>
          <a:xfrm>
            <a:off x="1102360" y="2293620"/>
            <a:ext cx="42696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QUERY · 40 yes/no attributes</a:t>
            </a:r>
            <a:endParaRPr lang="en-US" sz="1300" dirty="0"/>
          </a:p>
        </p:txBody>
      </p:sp>
      <p:sp>
        <p:nvSpPr>
          <p:cNvPr id="6" name="Text 4"/>
          <p:cNvSpPr/>
          <p:nvPr/>
        </p:nvSpPr>
        <p:spPr>
          <a:xfrm>
            <a:off x="1102360" y="2651760"/>
            <a:ext cx="4269638" cy="68834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4213D"/>
                </a:solidFill>
                <a:latin typeface="IBM Plex Sans" pitchFamily="34" charset="0"/>
                <a:ea typeface="IBM Plex Sans" pitchFamily="34" charset="-122"/>
                <a:cs typeface="IBM Plex Sans" pitchFamily="34" charset="-120"/>
              </a:rPr>
              <a:t>adult · female · long hair · </a:t>
            </a:r>
            <a:r>
              <a:rPr lang="en-US" sz="1800" b="1" dirty="0">
                <a:solidFill>
                  <a:srgbClr val="14213D"/>
                </a:solidFill>
                <a:latin typeface="IBM Plex Sans" pitchFamily="34" charset="0"/>
                <a:ea typeface="IBM Plex Sans" pitchFamily="34" charset="-122"/>
                <a:cs typeface="IBM Plex Sans" pitchFamily="34" charset="-120"/>
              </a:rPr>
              <a:t>red</a:t>
            </a:r>
            <a:r>
              <a:rPr lang="en-US" sz="1800" dirty="0">
                <a:solidFill>
                  <a:srgbClr val="14213D"/>
                </a:solidFill>
                <a:latin typeface="IBM Plex Sans" pitchFamily="34" charset="0"/>
                <a:ea typeface="IBM Plex Sans" pitchFamily="34" charset="-122"/>
                <a:cs typeface="IBM Plex Sans" pitchFamily="34" charset="-120"/>
              </a:rPr>
              <a:t> short-sleeved top · </a:t>
            </a:r>
            <a:r>
              <a:rPr lang="en-US" sz="1800" b="1" dirty="0">
                <a:solidFill>
                  <a:srgbClr val="14213D"/>
                </a:solidFill>
                <a:latin typeface="IBM Plex Sans" pitchFamily="34" charset="0"/>
                <a:ea typeface="IBM Plex Sans" pitchFamily="34" charset="-122"/>
                <a:cs typeface="IBM Plex Sans" pitchFamily="34" charset="-120"/>
              </a:rPr>
              <a:t>black</a:t>
            </a:r>
            <a:r>
              <a:rPr lang="en-US" sz="1800" dirty="0">
                <a:solidFill>
                  <a:srgbClr val="14213D"/>
                </a:solidFill>
                <a:latin typeface="IBM Plex Sans" pitchFamily="34" charset="0"/>
                <a:ea typeface="IBM Plex Sans" pitchFamily="34" charset="-122"/>
                <a:cs typeface="IBM Plex Sans" pitchFamily="34" charset="-120"/>
              </a:rPr>
              <a:t> trousers · backpack</a:t>
            </a:r>
            <a:endParaRPr lang="en-US" sz="1800" dirty="0"/>
          </a:p>
        </p:txBody>
      </p:sp>
      <p:pic>
        <p:nvPicPr>
          <p:cNvPr id="7" name="Image 0" descr="arrow-right">    </p:cNvPr>
          <p:cNvPicPr>
            <a:picLocks noChangeAspect="1"/>
          </p:cNvPicPr>
          <p:nvPr/>
        </p:nvPicPr>
        <p:blipFill>
          <a:blip r:embed="rId1"/>
          <a:srcRect l="0" r="0" t="0" b="0"/>
          <a:stretch/>
        </p:blipFill>
        <p:spPr>
          <a:xfrm>
            <a:off x="5791200" y="2626360"/>
            <a:ext cx="609600" cy="355600"/>
          </a:xfrm>
          <a:prstGeom prst="rect">
            <a:avLst/>
          </a:prstGeom>
        </p:spPr>
      </p:pic>
      <p:sp>
        <p:nvSpPr>
          <p:cNvPr id="8" name="Shape 5"/>
          <p:cNvSpPr/>
          <p:nvPr/>
        </p:nvSpPr>
        <p:spPr>
          <a:xfrm>
            <a:off x="6661150" y="2010410"/>
            <a:ext cx="4711700" cy="1587500"/>
          </a:xfrm>
          <a:prstGeom prst="roundRect">
            <a:avLst>
              <a:gd name="adj" fmla="val 7600"/>
            </a:avLst>
          </a:prstGeom>
          <a:solidFill>
            <a:srgbClr val="FFFFFF"/>
          </a:solidFill>
          <a:ln w="12700">
            <a:solidFill>
              <a:srgbClr val="DCE3EC"/>
            </a:solidFill>
            <a:prstDash val="solid"/>
          </a:ln>
        </p:spPr>
      </p:sp>
      <p:sp>
        <p:nvSpPr>
          <p:cNvPr id="9" name="Text 6"/>
          <p:cNvSpPr/>
          <p:nvPr/>
        </p:nvSpPr>
        <p:spPr>
          <a:xfrm>
            <a:off x="6944360" y="2293620"/>
            <a:ext cx="426963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OUTPUT · ranked gallery</a:t>
            </a:r>
            <a:endParaRPr lang="en-US" sz="1300" dirty="0"/>
          </a:p>
        </p:txBody>
      </p:sp>
      <p:sp>
        <p:nvSpPr>
          <p:cNvPr id="10" name="Text 7"/>
          <p:cNvSpPr/>
          <p:nvPr/>
        </p:nvSpPr>
        <p:spPr>
          <a:xfrm>
            <a:off x="6944360" y="2651760"/>
            <a:ext cx="4269638" cy="68834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4213D"/>
                </a:solidFill>
                <a:latin typeface="IBM Plex Sans" pitchFamily="34" charset="0"/>
                <a:ea typeface="IBM Plex Sans" pitchFamily="34" charset="-122"/>
                <a:cs typeface="IBM Plex Sans" pitchFamily="34" charset="-120"/>
              </a:rPr>
              <a:t>Every pedestrian crop in the gallery, best matches first</a:t>
            </a:r>
            <a:endParaRPr lang="en-US" sz="1800" dirty="0"/>
          </a:p>
        </p:txBody>
      </p:sp>
      <p:sp>
        <p:nvSpPr>
          <p:cNvPr id="11" name="Text 8"/>
          <p:cNvSpPr/>
          <p:nvPr/>
        </p:nvSpPr>
        <p:spPr>
          <a:xfrm>
            <a:off x="812800" y="3959860"/>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Unseen domain</a:t>
            </a:r>
            <a:endParaRPr lang="en-US" sz="1800" dirty="0"/>
          </a:p>
        </p:txBody>
      </p:sp>
      <p:sp>
        <p:nvSpPr>
          <p:cNvPr id="12" name="Text 9"/>
          <p:cNvSpPr/>
          <p:nvPr/>
        </p:nvSpPr>
        <p:spPr>
          <a:xfrm>
            <a:off x="812800" y="4284980"/>
            <a:ext cx="34882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Test gallery from cameras never seen in training</a:t>
            </a:r>
            <a:endParaRPr lang="en-US" sz="1400" dirty="0"/>
          </a:p>
        </p:txBody>
      </p:sp>
      <p:sp>
        <p:nvSpPr>
          <p:cNvPr id="13" name="Text 10"/>
          <p:cNvSpPr/>
          <p:nvPr/>
        </p:nvSpPr>
        <p:spPr>
          <a:xfrm>
            <a:off x="4402614" y="395986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Metric: mADM</a:t>
            </a:r>
            <a:endParaRPr lang="en-US" sz="1800" dirty="0"/>
          </a:p>
        </p:txBody>
      </p:sp>
      <p:sp>
        <p:nvSpPr>
          <p:cNvPr id="14" name="Text 11"/>
          <p:cNvSpPr/>
          <p:nvPr/>
        </p:nvSpPr>
        <p:spPr>
          <a:xfrm>
            <a:off x="4402614" y="4284980"/>
            <a:ext cx="35898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Like AP, but near misses earn partial credit</a:t>
            </a:r>
            <a:endParaRPr lang="en-US" sz="1400" dirty="0"/>
          </a:p>
        </p:txBody>
      </p:sp>
      <p:sp>
        <p:nvSpPr>
          <p:cNvPr id="15" name="Text 12"/>
          <p:cNvSpPr/>
          <p:nvPr/>
        </p:nvSpPr>
        <p:spPr>
          <a:xfrm>
            <a:off x="7992507" y="395986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Code submission</a:t>
            </a:r>
            <a:endParaRPr lang="en-US" sz="1800" dirty="0"/>
          </a:p>
        </p:txBody>
      </p:sp>
      <p:sp>
        <p:nvSpPr>
          <p:cNvPr id="16" name="Text 13"/>
          <p:cNvSpPr/>
          <p:nvPr/>
        </p:nvSpPr>
        <p:spPr>
          <a:xfrm>
            <a:off x="7992507" y="428498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A10 GPU, no internet, 5-minute limit</a:t>
            </a:r>
            <a:endParaRPr lang="en-US" sz="1400" dirty="0"/>
          </a:p>
        </p:txBody>
      </p:sp>
      <p:sp>
        <p:nvSpPr>
          <p:cNvPr id="17" name="Text 1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Data: 97,669 training + 33,407 validation crops from PA-100K, PETA and Market-1501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OUR APPROACH</a:t>
            </a:r>
            <a:endParaRPr lang="en-US" sz="1300" dirty="0"/>
          </a:p>
        </p:txBody>
      </p:sp>
      <p:sp>
        <p:nvSpPr>
          <p:cNvPr id="3" name="Text 1"/>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Two steps: recognise attributes, then rank</a:t>
            </a:r>
            <a:endParaRPr lang="en-US" sz="3600" dirty="0"/>
          </a:p>
        </p:txBody>
      </p:sp>
      <p:sp>
        <p:nvSpPr>
          <p:cNvPr id="4" name="Shape 2"/>
          <p:cNvSpPr/>
          <p:nvPr/>
        </p:nvSpPr>
        <p:spPr>
          <a:xfrm>
            <a:off x="819150" y="2112011"/>
            <a:ext cx="2100580" cy="1945640"/>
          </a:xfrm>
          <a:prstGeom prst="roundRect">
            <a:avLst>
              <a:gd name="adj" fmla="val 6201"/>
            </a:avLst>
          </a:prstGeom>
          <a:solidFill>
            <a:srgbClr val="FFFFFF"/>
          </a:solidFill>
          <a:ln w="12700">
            <a:solidFill>
              <a:srgbClr val="DCE3EC"/>
            </a:solidFill>
            <a:prstDash val="solid"/>
          </a:ln>
        </p:spPr>
      </p:sp>
      <p:sp>
        <p:nvSpPr>
          <p:cNvPr id="5" name="Text 3"/>
          <p:cNvSpPr/>
          <p:nvPr/>
        </p:nvSpPr>
        <p:spPr>
          <a:xfrm>
            <a:off x="1051560" y="2344420"/>
            <a:ext cx="16865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1 · INPUT</a:t>
            </a:r>
            <a:endParaRPr lang="en-US" sz="1300" dirty="0"/>
          </a:p>
        </p:txBody>
      </p:sp>
      <p:sp>
        <p:nvSpPr>
          <p:cNvPr id="6" name="Text 4"/>
          <p:cNvSpPr/>
          <p:nvPr/>
        </p:nvSpPr>
        <p:spPr>
          <a:xfrm>
            <a:off x="1051560" y="267716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Gallery crop</a:t>
            </a:r>
            <a:endParaRPr lang="en-US" sz="1800" dirty="0"/>
          </a:p>
        </p:txBody>
      </p:sp>
      <p:sp>
        <p:nvSpPr>
          <p:cNvPr id="7" name="Text 5"/>
          <p:cNvSpPr/>
          <p:nvPr/>
        </p:nvSpPr>
        <p:spPr>
          <a:xfrm>
            <a:off x="1051560" y="3053080"/>
            <a:ext cx="168656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Resized to 256×128, plus its mirror image</a:t>
            </a:r>
            <a:endParaRPr lang="en-US" sz="1400" dirty="0"/>
          </a:p>
        </p:txBody>
      </p:sp>
      <p:pic>
        <p:nvPicPr>
          <p:cNvPr id="8" name="Image 0" descr="arrow-right">    </p:cNvPr>
          <p:cNvPicPr>
            <a:picLocks noChangeAspect="1"/>
          </p:cNvPicPr>
          <p:nvPr/>
        </p:nvPicPr>
        <p:blipFill>
          <a:blip r:embed="rId1"/>
          <a:srcRect l="0" r="0" t="0" b="0"/>
          <a:stretch/>
        </p:blipFill>
        <p:spPr>
          <a:xfrm>
            <a:off x="3078480" y="2970530"/>
            <a:ext cx="406400" cy="228600"/>
          </a:xfrm>
          <a:prstGeom prst="rect">
            <a:avLst/>
          </a:prstGeom>
        </p:spPr>
      </p:pic>
      <p:sp>
        <p:nvSpPr>
          <p:cNvPr id="9" name="Shape 6"/>
          <p:cNvSpPr/>
          <p:nvPr/>
        </p:nvSpPr>
        <p:spPr>
          <a:xfrm>
            <a:off x="3637280" y="2105661"/>
            <a:ext cx="2092960" cy="1958340"/>
          </a:xfrm>
          <a:prstGeom prst="roundRect">
            <a:avLst>
              <a:gd name="adj" fmla="val 6485"/>
            </a:avLst>
          </a:prstGeom>
          <a:solidFill>
            <a:srgbClr val="14213D"/>
          </a:solidFill>
          <a:ln/>
        </p:spPr>
      </p:sp>
      <p:sp>
        <p:nvSpPr>
          <p:cNvPr id="10" name="Text 7"/>
          <p:cNvSpPr/>
          <p:nvPr/>
        </p:nvSpPr>
        <p:spPr>
          <a:xfrm>
            <a:off x="3865880" y="2334261"/>
            <a:ext cx="16865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FB2F0"/>
                </a:solidFill>
                <a:latin typeface="JetBrains Mono" pitchFamily="49" charset="0"/>
                <a:ea typeface="JetBrains Mono" pitchFamily="49" charset="-122"/>
                <a:cs typeface="JetBrains Mono" pitchFamily="49" charset="-120"/>
              </a:rPr>
              <a:t>2 · MODEL</a:t>
            </a:r>
            <a:endParaRPr lang="en-US" sz="1300" dirty="0"/>
          </a:p>
        </p:txBody>
      </p:sp>
      <p:sp>
        <p:nvSpPr>
          <p:cNvPr id="11" name="Text 8"/>
          <p:cNvSpPr/>
          <p:nvPr/>
        </p:nvSpPr>
        <p:spPr>
          <a:xfrm>
            <a:off x="3865880" y="266700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CLIP ViT-B/16</a:t>
            </a:r>
            <a:endParaRPr lang="en-US" sz="1800" dirty="0"/>
          </a:p>
        </p:txBody>
      </p:sp>
      <p:sp>
        <p:nvSpPr>
          <p:cNvPr id="12" name="Text 9"/>
          <p:cNvSpPr/>
          <p:nvPr/>
        </p:nvSpPr>
        <p:spPr>
          <a:xfrm>
            <a:off x="3865880" y="3042920"/>
            <a:ext cx="168656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CE0"/>
                </a:solidFill>
                <a:latin typeface="IBM Plex Sans" pitchFamily="34" charset="0"/>
                <a:ea typeface="IBM Plex Sans" pitchFamily="34" charset="-122"/>
                <a:cs typeface="IBM Plex Sans" pitchFamily="34" charset="-120"/>
              </a:rPr>
              <a:t>Fine-tuned; 40 attribute probabilities</a:t>
            </a:r>
            <a:endParaRPr lang="en-US" sz="1400" dirty="0"/>
          </a:p>
        </p:txBody>
      </p:sp>
      <p:pic>
        <p:nvPicPr>
          <p:cNvPr id="13" name="Image 1" descr="arrow-right">    </p:cNvPr>
          <p:cNvPicPr>
            <a:picLocks noChangeAspect="1"/>
          </p:cNvPicPr>
          <p:nvPr/>
        </p:nvPicPr>
        <p:blipFill>
          <a:blip r:embed="rId2"/>
          <a:srcRect l="0" r="0" t="0" b="0"/>
          <a:stretch/>
        </p:blipFill>
        <p:spPr>
          <a:xfrm>
            <a:off x="5882640" y="2970530"/>
            <a:ext cx="406400" cy="228600"/>
          </a:xfrm>
          <a:prstGeom prst="rect">
            <a:avLst/>
          </a:prstGeom>
        </p:spPr>
      </p:pic>
      <p:sp>
        <p:nvSpPr>
          <p:cNvPr id="14" name="Shape 10"/>
          <p:cNvSpPr/>
          <p:nvPr/>
        </p:nvSpPr>
        <p:spPr>
          <a:xfrm>
            <a:off x="6447790" y="2112011"/>
            <a:ext cx="2100580" cy="1945640"/>
          </a:xfrm>
          <a:prstGeom prst="roundRect">
            <a:avLst>
              <a:gd name="adj" fmla="val 6201"/>
            </a:avLst>
          </a:prstGeom>
          <a:solidFill>
            <a:srgbClr val="FFFFFF"/>
          </a:solidFill>
          <a:ln w="12700">
            <a:solidFill>
              <a:srgbClr val="2A78D6"/>
            </a:solidFill>
            <a:prstDash val="solid"/>
          </a:ln>
        </p:spPr>
      </p:sp>
      <p:sp>
        <p:nvSpPr>
          <p:cNvPr id="15" name="Text 11"/>
          <p:cNvSpPr/>
          <p:nvPr/>
        </p:nvSpPr>
        <p:spPr>
          <a:xfrm>
            <a:off x="6680200" y="2344420"/>
            <a:ext cx="16865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78D6"/>
                </a:solidFill>
                <a:latin typeface="JetBrains Mono" pitchFamily="49" charset="0"/>
                <a:ea typeface="JetBrains Mono" pitchFamily="49" charset="-122"/>
                <a:cs typeface="JetBrains Mono" pitchFamily="49" charset="-120"/>
              </a:rPr>
              <a:t>3 · SCORE</a:t>
            </a:r>
            <a:endParaRPr lang="en-US" sz="1300" dirty="0"/>
          </a:p>
        </p:txBody>
      </p:sp>
      <p:sp>
        <p:nvSpPr>
          <p:cNvPr id="16" name="Text 12"/>
          <p:cNvSpPr/>
          <p:nvPr/>
        </p:nvSpPr>
        <p:spPr>
          <a:xfrm>
            <a:off x="6680200" y="2677161"/>
            <a:ext cx="1686560"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Likelihood ranking</a:t>
            </a:r>
            <a:endParaRPr lang="en-US" sz="1800" dirty="0"/>
          </a:p>
        </p:txBody>
      </p:sp>
      <p:sp>
        <p:nvSpPr>
          <p:cNvPr id="17" name="Text 13"/>
          <p:cNvSpPr/>
          <p:nvPr/>
        </p:nvSpPr>
        <p:spPr>
          <a:xfrm>
            <a:off x="6680200" y="3327400"/>
            <a:ext cx="16865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Every query against every image</a:t>
            </a:r>
            <a:endParaRPr lang="en-US" sz="1400" dirty="0"/>
          </a:p>
        </p:txBody>
      </p:sp>
      <p:pic>
        <p:nvPicPr>
          <p:cNvPr id="18" name="Image 2" descr="arrow-right">    </p:cNvPr>
          <p:cNvPicPr>
            <a:picLocks noChangeAspect="1"/>
          </p:cNvPicPr>
          <p:nvPr/>
        </p:nvPicPr>
        <p:blipFill>
          <a:blip r:embed="rId3"/>
          <a:srcRect l="0" r="0" t="0" b="0"/>
          <a:stretch/>
        </p:blipFill>
        <p:spPr>
          <a:xfrm>
            <a:off x="8707120" y="2970530"/>
            <a:ext cx="406400" cy="228600"/>
          </a:xfrm>
          <a:prstGeom prst="rect">
            <a:avLst/>
          </a:prstGeom>
        </p:spPr>
      </p:pic>
      <p:sp>
        <p:nvSpPr>
          <p:cNvPr id="19" name="Shape 14"/>
          <p:cNvSpPr/>
          <p:nvPr/>
        </p:nvSpPr>
        <p:spPr>
          <a:xfrm>
            <a:off x="9272270" y="2112011"/>
            <a:ext cx="2100580" cy="1945640"/>
          </a:xfrm>
          <a:prstGeom prst="roundRect">
            <a:avLst>
              <a:gd name="adj" fmla="val 6201"/>
            </a:avLst>
          </a:prstGeom>
          <a:solidFill>
            <a:srgbClr val="FFFFFF"/>
          </a:solidFill>
          <a:ln w="12700">
            <a:solidFill>
              <a:srgbClr val="DCE3EC"/>
            </a:solidFill>
            <a:prstDash val="solid"/>
          </a:ln>
        </p:spPr>
      </p:sp>
      <p:sp>
        <p:nvSpPr>
          <p:cNvPr id="20" name="Text 15"/>
          <p:cNvSpPr/>
          <p:nvPr/>
        </p:nvSpPr>
        <p:spPr>
          <a:xfrm>
            <a:off x="9504680" y="2344420"/>
            <a:ext cx="16865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4 · OUTPUT</a:t>
            </a:r>
            <a:endParaRPr lang="en-US" sz="1300" dirty="0"/>
          </a:p>
        </p:txBody>
      </p:sp>
      <p:sp>
        <p:nvSpPr>
          <p:cNvPr id="21" name="Text 16"/>
          <p:cNvSpPr/>
          <p:nvPr/>
        </p:nvSpPr>
        <p:spPr>
          <a:xfrm>
            <a:off x="9504680" y="2677161"/>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Ranked list</a:t>
            </a:r>
            <a:endParaRPr lang="en-US" sz="1800" dirty="0"/>
          </a:p>
        </p:txBody>
      </p:sp>
      <p:sp>
        <p:nvSpPr>
          <p:cNvPr id="22" name="Text 17"/>
          <p:cNvSpPr/>
          <p:nvPr/>
        </p:nvSpPr>
        <p:spPr>
          <a:xfrm>
            <a:off x="9504680" y="3053080"/>
            <a:ext cx="16865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One row per query, best first</a:t>
            </a:r>
            <a:endParaRPr lang="en-US" sz="1400" dirty="0"/>
          </a:p>
        </p:txBody>
      </p:sp>
      <p:sp>
        <p:nvSpPr>
          <p:cNvPr id="23" name="Text 18"/>
          <p:cNvSpPr/>
          <p:nvPr/>
        </p:nvSpPr>
        <p:spPr>
          <a:xfrm>
            <a:off x="812800" y="452120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CLIP was pretrained on web-scale image–text data, so it copes with new cameras. The rules allow general foundation models as long as they were not trained for attribute recognition.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TRAINING</a:t>
            </a:r>
            <a:endParaRPr lang="en-US" sz="1300" dirty="0"/>
          </a:p>
        </p:txBody>
      </p:sp>
      <p:sp>
        <p:nvSpPr>
          <p:cNvPr id="3" name="Text 1"/>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recipe tuned for surveillance footage</a:t>
            </a:r>
            <a:endParaRPr lang="en-US" sz="3600" dirty="0"/>
          </a:p>
        </p:txBody>
      </p:sp>
      <p:sp>
        <p:nvSpPr>
          <p:cNvPr id="4" name="Shape 2"/>
          <p:cNvSpPr/>
          <p:nvPr/>
        </p:nvSpPr>
        <p:spPr>
          <a:xfrm>
            <a:off x="819150" y="2010411"/>
            <a:ext cx="5181600" cy="1363980"/>
          </a:xfrm>
          <a:prstGeom prst="roundRect">
            <a:avLst>
              <a:gd name="adj" fmla="val 8845"/>
            </a:avLst>
          </a:prstGeom>
          <a:solidFill>
            <a:srgbClr val="FFFFFF"/>
          </a:solidFill>
          <a:ln w="12700">
            <a:solidFill>
              <a:srgbClr val="DCE3EC"/>
            </a:solidFill>
            <a:prstDash val="solid"/>
          </a:ln>
        </p:spPr>
      </p:sp>
      <p:sp>
        <p:nvSpPr>
          <p:cNvPr id="5" name="Text 3"/>
          <p:cNvSpPr/>
          <p:nvPr/>
        </p:nvSpPr>
        <p:spPr>
          <a:xfrm>
            <a:off x="1076960" y="2268220"/>
            <a:ext cx="480595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Low-resolution simulation</a:t>
            </a:r>
            <a:endParaRPr lang="en-US" sz="1800" dirty="0"/>
          </a:p>
        </p:txBody>
      </p:sp>
      <p:sp>
        <p:nvSpPr>
          <p:cNvPr id="6" name="Text 4"/>
          <p:cNvSpPr/>
          <p:nvPr/>
        </p:nvSpPr>
        <p:spPr>
          <a:xfrm>
            <a:off x="1076960" y="2618741"/>
            <a:ext cx="480595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Shrink to 25–60% and blow back up, mimicking distant cameras</a:t>
            </a:r>
            <a:endParaRPr lang="en-US" sz="1400" dirty="0"/>
          </a:p>
        </p:txBody>
      </p:sp>
      <p:sp>
        <p:nvSpPr>
          <p:cNvPr id="7" name="Shape 5"/>
          <p:cNvSpPr/>
          <p:nvPr/>
        </p:nvSpPr>
        <p:spPr>
          <a:xfrm>
            <a:off x="6191250" y="2010411"/>
            <a:ext cx="5181600" cy="1363980"/>
          </a:xfrm>
          <a:prstGeom prst="roundRect">
            <a:avLst>
              <a:gd name="adj" fmla="val 8845"/>
            </a:avLst>
          </a:prstGeom>
          <a:solidFill>
            <a:srgbClr val="FFFFFF"/>
          </a:solidFill>
          <a:ln w="12700">
            <a:solidFill>
              <a:srgbClr val="DCE3EC"/>
            </a:solidFill>
            <a:prstDash val="solid"/>
          </a:ln>
        </p:spPr>
      </p:sp>
      <p:sp>
        <p:nvSpPr>
          <p:cNvPr id="8" name="Text 6"/>
          <p:cNvSpPr/>
          <p:nvPr/>
        </p:nvSpPr>
        <p:spPr>
          <a:xfrm>
            <a:off x="6449060" y="2268220"/>
            <a:ext cx="480595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No hue changes</a:t>
            </a:r>
            <a:endParaRPr lang="en-US" sz="1800" dirty="0"/>
          </a:p>
        </p:txBody>
      </p:sp>
      <p:sp>
        <p:nvSpPr>
          <p:cNvPr id="9" name="Text 7"/>
          <p:cNvSpPr/>
          <p:nvPr/>
        </p:nvSpPr>
        <p:spPr>
          <a:xfrm>
            <a:off x="6449060" y="2618741"/>
            <a:ext cx="480595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Colour is a label here, so we only jitter brightness and contrast</a:t>
            </a:r>
            <a:endParaRPr lang="en-US" sz="1400" dirty="0"/>
          </a:p>
        </p:txBody>
      </p:sp>
      <p:sp>
        <p:nvSpPr>
          <p:cNvPr id="10" name="Shape 8"/>
          <p:cNvSpPr/>
          <p:nvPr/>
        </p:nvSpPr>
        <p:spPr>
          <a:xfrm>
            <a:off x="819150" y="3564891"/>
            <a:ext cx="5181600" cy="1363980"/>
          </a:xfrm>
          <a:prstGeom prst="roundRect">
            <a:avLst>
              <a:gd name="adj" fmla="val 8845"/>
            </a:avLst>
          </a:prstGeom>
          <a:solidFill>
            <a:srgbClr val="FFFFFF"/>
          </a:solidFill>
          <a:ln w="12700">
            <a:solidFill>
              <a:srgbClr val="DCE3EC"/>
            </a:solidFill>
            <a:prstDash val="solid"/>
          </a:ln>
        </p:spPr>
      </p:sp>
      <p:sp>
        <p:nvSpPr>
          <p:cNvPr id="11" name="Text 9"/>
          <p:cNvSpPr/>
          <p:nvPr/>
        </p:nvSpPr>
        <p:spPr>
          <a:xfrm>
            <a:off x="1076960" y="3822700"/>
            <a:ext cx="480595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Gentle fine-tuning</a:t>
            </a:r>
            <a:endParaRPr lang="en-US" sz="1800" dirty="0"/>
          </a:p>
        </p:txBody>
      </p:sp>
      <p:sp>
        <p:nvSpPr>
          <p:cNvPr id="12" name="Text 10"/>
          <p:cNvSpPr/>
          <p:nvPr/>
        </p:nvSpPr>
        <p:spPr>
          <a:xfrm>
            <a:off x="1076960" y="4173220"/>
            <a:ext cx="480595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Layer-wise learning-rate decay keeps early CLIP layers close to pretraining</a:t>
            </a:r>
            <a:endParaRPr lang="en-US" sz="1400" dirty="0"/>
          </a:p>
        </p:txBody>
      </p:sp>
      <p:sp>
        <p:nvSpPr>
          <p:cNvPr id="13" name="Shape 11"/>
          <p:cNvSpPr/>
          <p:nvPr/>
        </p:nvSpPr>
        <p:spPr>
          <a:xfrm>
            <a:off x="6191250" y="3564891"/>
            <a:ext cx="5181600" cy="1363980"/>
          </a:xfrm>
          <a:prstGeom prst="roundRect">
            <a:avLst>
              <a:gd name="adj" fmla="val 8845"/>
            </a:avLst>
          </a:prstGeom>
          <a:solidFill>
            <a:srgbClr val="FFFFFF"/>
          </a:solidFill>
          <a:ln w="12700">
            <a:solidFill>
              <a:srgbClr val="DCE3EC"/>
            </a:solidFill>
            <a:prstDash val="solid"/>
          </a:ln>
        </p:spPr>
      </p:sp>
      <p:sp>
        <p:nvSpPr>
          <p:cNvPr id="14" name="Text 12"/>
          <p:cNvSpPr/>
          <p:nvPr/>
        </p:nvSpPr>
        <p:spPr>
          <a:xfrm>
            <a:off x="6449060" y="3822700"/>
            <a:ext cx="480595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Calibrated outputs</a:t>
            </a:r>
            <a:endParaRPr lang="en-US" sz="1800" dirty="0"/>
          </a:p>
        </p:txBody>
      </p:sp>
      <p:sp>
        <p:nvSpPr>
          <p:cNvPr id="15" name="Text 13"/>
          <p:cNvSpPr/>
          <p:nvPr/>
        </p:nvSpPr>
        <p:spPr>
          <a:xfrm>
            <a:off x="6449060" y="4173220"/>
            <a:ext cx="480595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Plain BCE and weight averaging (EMA), because the ranking uses the probabilities</a:t>
            </a:r>
            <a:endParaRPr lang="en-US" sz="1400" dirty="0"/>
          </a:p>
        </p:txBody>
      </p:sp>
      <p:sp>
        <p:nvSpPr>
          <p:cNvPr id="16" name="Text 14"/>
          <p:cNvSpPr/>
          <p:nvPr/>
        </p:nvSpPr>
        <p:spPr>
          <a:xfrm>
            <a:off x="812800" y="52908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Free Colab T4 · ~12 min per epoch · CLIP re-implemented in plain PyTorch for the offline container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7FB2F0"/>
                </a:solidFill>
                <a:latin typeface="JetBrains Mono" pitchFamily="49" charset="0"/>
                <a:ea typeface="JetBrains Mono" pitchFamily="49" charset="-122"/>
                <a:cs typeface="JetBrains Mono" pitchFamily="49" charset="-120"/>
              </a:rPr>
              <a:t>THE KEY IDEA</a:t>
            </a:r>
            <a:endParaRPr lang="en-US" sz="1300" dirty="0"/>
          </a:p>
        </p:txBody>
      </p:sp>
      <p:sp>
        <p:nvSpPr>
          <p:cNvPr id="3" name="Text 1"/>
          <p:cNvSpPr/>
          <p:nvPr>
            <p:ph type="title"/>
          </p:nvPr>
        </p:nvSpPr>
        <p:spPr>
          <a:xfrm>
            <a:off x="812800" y="1145539"/>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pace Grotesk" pitchFamily="34" charset="0"/>
                <a:ea typeface="Space Grotesk" pitchFamily="34" charset="-122"/>
                <a:cs typeface="Space Grotesk" pitchFamily="34" charset="-120"/>
              </a:rPr>
              <a:t>Rank by how likely the match is, not by distance</a:t>
            </a:r>
            <a:endParaRPr lang="en-US" sz="3600" dirty="0"/>
          </a:p>
        </p:txBody>
      </p:sp>
      <p:sp>
        <p:nvSpPr>
          <p:cNvPr id="4" name="Shape 2"/>
          <p:cNvSpPr/>
          <p:nvPr/>
        </p:nvSpPr>
        <p:spPr>
          <a:xfrm>
            <a:off x="812800" y="2506982"/>
            <a:ext cx="5156200" cy="1775460"/>
          </a:xfrm>
          <a:prstGeom prst="roundRect">
            <a:avLst>
              <a:gd name="adj" fmla="val 7153"/>
            </a:avLst>
          </a:prstGeom>
          <a:solidFill>
            <a:srgbClr val="1F2F52"/>
          </a:solidFill>
          <a:ln/>
        </p:spPr>
      </p:sp>
      <p:sp>
        <p:nvSpPr>
          <p:cNvPr id="5" name="Text 3"/>
          <p:cNvSpPr/>
          <p:nvPr/>
        </p:nvSpPr>
        <p:spPr>
          <a:xfrm>
            <a:off x="1092200" y="2786382"/>
            <a:ext cx="47353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CE0"/>
                </a:solidFill>
                <a:latin typeface="JetBrains Mono" pitchFamily="49" charset="0"/>
                <a:ea typeface="JetBrains Mono" pitchFamily="49" charset="-122"/>
                <a:cs typeface="JetBrains Mono" pitchFamily="49" charset="-120"/>
              </a:rPr>
              <a:t>STARTER KIT · L1 DISTANCE</a:t>
            </a:r>
            <a:endParaRPr lang="en-US" sz="1300" dirty="0"/>
          </a:p>
        </p:txBody>
      </p:sp>
      <p:sp>
        <p:nvSpPr>
          <p:cNvPr id="6" name="Text 4"/>
          <p:cNvSpPr/>
          <p:nvPr/>
        </p:nvSpPr>
        <p:spPr>
          <a:xfrm>
            <a:off x="1092200" y="3119121"/>
            <a:ext cx="4735322"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DCE3EC"/>
                </a:solidFill>
                <a:latin typeface="IBM Plex Sans" pitchFamily="34" charset="0"/>
                <a:ea typeface="IBM Plex Sans" pitchFamily="34" charset="-122"/>
                <a:cs typeface="IBM Plex Sans" pitchFamily="34" charset="-120"/>
              </a:rPr>
              <a:t>Σ |query − probability|</a:t>
            </a:r>
            <a:endParaRPr lang="en-US" sz="1600" dirty="0"/>
          </a:p>
          <a:p>
            <a:pPr algn="l" indent="0" marL="0">
              <a:lnSpc>
                <a:spcPts val="2320"/>
              </a:lnSpc>
              <a:buNone/>
            </a:pPr>
            <a:r>
              <a:rPr lang="en-US" sz="1600" dirty="0">
                <a:solidFill>
                  <a:srgbClr val="DCE3EC"/>
                </a:solidFill>
                <a:latin typeface="IBM Plex Sans" pitchFamily="34" charset="0"/>
                <a:ea typeface="IBM Plex Sans" pitchFamily="34" charset="-122"/>
                <a:cs typeface="IBM Plex Sans" pitchFamily="34" charset="-120"/>
              </a:rPr>
              <a:t>A confident mistake costs the same as an unsure guess</a:t>
            </a:r>
            <a:endParaRPr lang="en-US" sz="1600" dirty="0"/>
          </a:p>
        </p:txBody>
      </p:sp>
      <p:sp>
        <p:nvSpPr>
          <p:cNvPr id="7" name="Shape 5"/>
          <p:cNvSpPr/>
          <p:nvPr/>
        </p:nvSpPr>
        <p:spPr>
          <a:xfrm>
            <a:off x="6223000" y="2506982"/>
            <a:ext cx="5156200" cy="1775460"/>
          </a:xfrm>
          <a:prstGeom prst="roundRect">
            <a:avLst>
              <a:gd name="adj" fmla="val 7153"/>
            </a:avLst>
          </a:prstGeom>
          <a:solidFill>
            <a:srgbClr val="F7F6F2"/>
          </a:solidFill>
          <a:ln/>
        </p:spPr>
      </p:sp>
      <p:sp>
        <p:nvSpPr>
          <p:cNvPr id="8" name="Text 6"/>
          <p:cNvSpPr/>
          <p:nvPr/>
        </p:nvSpPr>
        <p:spPr>
          <a:xfrm>
            <a:off x="6502400" y="2786382"/>
            <a:ext cx="47353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78D6"/>
                </a:solidFill>
                <a:latin typeface="JetBrains Mono" pitchFamily="49" charset="0"/>
                <a:ea typeface="JetBrains Mono" pitchFamily="49" charset="-122"/>
                <a:cs typeface="JetBrains Mono" pitchFamily="49" charset="-120"/>
              </a:rPr>
              <a:t>OURS · LOG-LIKELIHOOD</a:t>
            </a:r>
            <a:endParaRPr lang="en-US" sz="1300" dirty="0"/>
          </a:p>
        </p:txBody>
      </p:sp>
      <p:sp>
        <p:nvSpPr>
          <p:cNvPr id="9" name="Text 7"/>
          <p:cNvSpPr/>
          <p:nvPr/>
        </p:nvSpPr>
        <p:spPr>
          <a:xfrm>
            <a:off x="6502400" y="3119121"/>
            <a:ext cx="4735322"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4213D"/>
                </a:solidFill>
                <a:latin typeface="IBM Plex Sans" pitchFamily="34" charset="0"/>
                <a:ea typeface="IBM Plex Sans" pitchFamily="34" charset="-122"/>
                <a:cs typeface="IBM Plex Sans" pitchFamily="34" charset="-120"/>
              </a:rPr>
              <a:t>Σ log P(attribute agrees)</a:t>
            </a:r>
            <a:endParaRPr lang="en-US" sz="1600" dirty="0"/>
          </a:p>
          <a:p>
            <a:pPr algn="l" indent="0" marL="0">
              <a:lnSpc>
                <a:spcPts val="2320"/>
              </a:lnSpc>
              <a:buNone/>
            </a:pPr>
            <a:r>
              <a:rPr lang="en-US" sz="1600" dirty="0">
                <a:solidFill>
                  <a:srgbClr val="14213D"/>
                </a:solidFill>
                <a:latin typeface="IBM Plex Sans" pitchFamily="34" charset="0"/>
                <a:ea typeface="IBM Plex Sans" pitchFamily="34" charset="-122"/>
                <a:cs typeface="IBM Plex Sans" pitchFamily="34" charset="-120"/>
              </a:rPr>
              <a:t>One confident contradiction sinks the image</a:t>
            </a:r>
            <a:endParaRPr lang="en-US" sz="1600" dirty="0"/>
          </a:p>
        </p:txBody>
      </p:sp>
      <p:sp>
        <p:nvSpPr>
          <p:cNvPr id="10" name="Text 8"/>
          <p:cNvSpPr/>
          <p:nvPr/>
        </p:nvSpPr>
        <p:spPr>
          <a:xfrm>
            <a:off x="812800" y="4638039"/>
            <a:ext cx="10883392" cy="32004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DCE3EC"/>
                </a:solidFill>
                <a:latin typeface="IBM Plex Sans" pitchFamily="34" charset="0"/>
                <a:ea typeface="IBM Plex Sans" pitchFamily="34" charset="-122"/>
                <a:cs typeface="IBM Plex Sans" pitchFamily="34" charset="-120"/>
              </a:rPr>
              <a:t>+ agreement term:</a:t>
            </a:r>
            <a:r>
              <a:rPr lang="en-US" sz="1600" dirty="0">
                <a:solidFill>
                  <a:srgbClr val="DCE3EC"/>
                </a:solidFill>
                <a:latin typeface="IBM Plex Sans" pitchFamily="34" charset="0"/>
                <a:ea typeface="IBM Plex Sans" pitchFamily="34" charset="-122"/>
                <a:cs typeface="IBM Plex Sans" pitchFamily="34" charset="-120"/>
              </a:rPr>
              <a:t> rewards near misses, which is exactly what mADM measures</a:t>
            </a:r>
            <a:endParaRPr lang="en-US" sz="1600" dirty="0"/>
          </a:p>
        </p:txBody>
      </p:sp>
      <p:sp>
        <p:nvSpPr>
          <p:cNvPr id="11" name="Text 9"/>
          <p:cNvSpPr/>
          <p:nvPr/>
        </p:nvSpPr>
        <p:spPr>
          <a:xfrm>
            <a:off x="812800" y="5059682"/>
            <a:ext cx="10883392" cy="32004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DCE3EC"/>
                </a:solidFill>
                <a:latin typeface="IBM Plex Sans" pitchFamily="34" charset="0"/>
                <a:ea typeface="IBM Plex Sans" pitchFamily="34" charset="-122"/>
                <a:cs typeface="IBM Plex Sans" pitchFamily="34" charset="-120"/>
              </a:rPr>
              <a:t>+ query normalisation:</a:t>
            </a:r>
            <a:r>
              <a:rPr lang="en-US" sz="1600" dirty="0">
                <a:solidFill>
                  <a:srgbClr val="DCE3EC"/>
                </a:solidFill>
                <a:latin typeface="IBM Plex Sans" pitchFamily="34" charset="0"/>
                <a:ea typeface="IBM Plex Sans" pitchFamily="34" charset="-122"/>
                <a:cs typeface="IBM Plex Sans" pitchFamily="34" charset="-120"/>
              </a:rPr>
              <a:t> each image belongs to one query, so images that fit many queries are pushed down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VALIDATION RESULTS</a:t>
            </a:r>
            <a:endParaRPr lang="en-US" sz="1300" dirty="0"/>
          </a:p>
        </p:txBody>
      </p:sp>
      <p:sp>
        <p:nvSpPr>
          <p:cNvPr id="3" name="Text 1"/>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Each step adds mADM</a:t>
            </a:r>
            <a:endParaRPr lang="en-US" sz="3600" dirty="0"/>
          </a:p>
        </p:txBody>
      </p:sp>
      <p:sp>
        <p:nvSpPr>
          <p:cNvPr id="4" name="Shape 2"/>
          <p:cNvSpPr/>
          <p:nvPr/>
        </p:nvSpPr>
        <p:spPr>
          <a:xfrm>
            <a:off x="812800" y="2054861"/>
            <a:ext cx="2498090" cy="1981200"/>
          </a:xfrm>
          <a:prstGeom prst="roundRect">
            <a:avLst>
              <a:gd name="adj" fmla="val 6410"/>
            </a:avLst>
          </a:prstGeom>
          <a:solidFill>
            <a:srgbClr val="ECEAE3"/>
          </a:solidFill>
          <a:ln/>
        </p:spPr>
      </p:sp>
      <p:sp>
        <p:nvSpPr>
          <p:cNvPr id="5" name="Text 3"/>
          <p:cNvSpPr/>
          <p:nvPr/>
        </p:nvSpPr>
        <p:spPr>
          <a:xfrm>
            <a:off x="1066800" y="2308861"/>
            <a:ext cx="2049793"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6B7280"/>
                </a:solidFill>
                <a:latin typeface="Space Grotesk" pitchFamily="34" charset="0"/>
                <a:ea typeface="Space Grotesk" pitchFamily="34" charset="-122"/>
                <a:cs typeface="Space Grotesk" pitchFamily="34" charset="-120"/>
              </a:rPr>
              <a:t>0.113</a:t>
            </a:r>
            <a:endParaRPr lang="en-US" sz="4800" dirty="0"/>
          </a:p>
        </p:txBody>
      </p:sp>
      <p:sp>
        <p:nvSpPr>
          <p:cNvPr id="6" name="Text 4"/>
          <p:cNvSpPr/>
          <p:nvPr/>
        </p:nvSpPr>
        <p:spPr>
          <a:xfrm>
            <a:off x="1066800" y="3263900"/>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Organiser baseline (no image model)</a:t>
            </a:r>
            <a:endParaRPr lang="en-US" sz="1400" dirty="0"/>
          </a:p>
        </p:txBody>
      </p:sp>
      <p:sp>
        <p:nvSpPr>
          <p:cNvPr id="7" name="Shape 5"/>
          <p:cNvSpPr/>
          <p:nvPr/>
        </p:nvSpPr>
        <p:spPr>
          <a:xfrm>
            <a:off x="3495040" y="2061211"/>
            <a:ext cx="2505710" cy="1968500"/>
          </a:xfrm>
          <a:prstGeom prst="roundRect">
            <a:avLst>
              <a:gd name="adj" fmla="val 6129"/>
            </a:avLst>
          </a:prstGeom>
          <a:solidFill>
            <a:srgbClr val="FFFFFF"/>
          </a:solidFill>
          <a:ln w="12700">
            <a:solidFill>
              <a:srgbClr val="DCE3EC"/>
            </a:solidFill>
            <a:prstDash val="solid"/>
          </a:ln>
        </p:spPr>
      </p:sp>
      <p:sp>
        <p:nvSpPr>
          <p:cNvPr id="8" name="Text 6"/>
          <p:cNvSpPr/>
          <p:nvPr/>
        </p:nvSpPr>
        <p:spPr>
          <a:xfrm>
            <a:off x="3752850" y="2319021"/>
            <a:ext cx="2049793"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14213D"/>
                </a:solidFill>
                <a:latin typeface="Space Grotesk" pitchFamily="34" charset="0"/>
                <a:ea typeface="Space Grotesk" pitchFamily="34" charset="-122"/>
                <a:cs typeface="Space Grotesk" pitchFamily="34" charset="-120"/>
              </a:rPr>
              <a:t>0.694</a:t>
            </a:r>
            <a:endParaRPr lang="en-US" sz="4800" dirty="0"/>
          </a:p>
        </p:txBody>
      </p:sp>
      <p:sp>
        <p:nvSpPr>
          <p:cNvPr id="9" name="Text 7"/>
          <p:cNvSpPr/>
          <p:nvPr/>
        </p:nvSpPr>
        <p:spPr>
          <a:xfrm>
            <a:off x="3752850" y="3274061"/>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Our CLIP model + L1 distance</a:t>
            </a:r>
            <a:endParaRPr lang="en-US" sz="1400" dirty="0"/>
          </a:p>
        </p:txBody>
      </p:sp>
      <p:sp>
        <p:nvSpPr>
          <p:cNvPr id="10" name="Shape 8"/>
          <p:cNvSpPr/>
          <p:nvPr/>
        </p:nvSpPr>
        <p:spPr>
          <a:xfrm>
            <a:off x="6191250" y="2061211"/>
            <a:ext cx="2505710" cy="1968500"/>
          </a:xfrm>
          <a:prstGeom prst="roundRect">
            <a:avLst>
              <a:gd name="adj" fmla="val 6129"/>
            </a:avLst>
          </a:prstGeom>
          <a:solidFill>
            <a:srgbClr val="FFFFFF"/>
          </a:solidFill>
          <a:ln w="12700">
            <a:solidFill>
              <a:srgbClr val="DCE3EC"/>
            </a:solidFill>
            <a:prstDash val="solid"/>
          </a:ln>
        </p:spPr>
      </p:sp>
      <p:sp>
        <p:nvSpPr>
          <p:cNvPr id="11" name="Text 9"/>
          <p:cNvSpPr/>
          <p:nvPr/>
        </p:nvSpPr>
        <p:spPr>
          <a:xfrm>
            <a:off x="6449060" y="2319021"/>
            <a:ext cx="2049793"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14213D"/>
                </a:solidFill>
                <a:latin typeface="Space Grotesk" pitchFamily="34" charset="0"/>
                <a:ea typeface="Space Grotesk" pitchFamily="34" charset="-122"/>
                <a:cs typeface="Space Grotesk" pitchFamily="34" charset="-120"/>
              </a:rPr>
              <a:t>0.735</a:t>
            </a:r>
            <a:endParaRPr lang="en-US" sz="4800" dirty="0"/>
          </a:p>
        </p:txBody>
      </p:sp>
      <p:sp>
        <p:nvSpPr>
          <p:cNvPr id="12" name="Text 10"/>
          <p:cNvSpPr/>
          <p:nvPr/>
        </p:nvSpPr>
        <p:spPr>
          <a:xfrm>
            <a:off x="6449060" y="3274061"/>
            <a:ext cx="20497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 log-likelihood scoring</a:t>
            </a:r>
            <a:endParaRPr lang="en-US" sz="1400" dirty="0"/>
          </a:p>
        </p:txBody>
      </p:sp>
      <p:sp>
        <p:nvSpPr>
          <p:cNvPr id="13" name="Shape 11"/>
          <p:cNvSpPr/>
          <p:nvPr/>
        </p:nvSpPr>
        <p:spPr>
          <a:xfrm>
            <a:off x="8881110" y="2054861"/>
            <a:ext cx="2498090" cy="1981200"/>
          </a:xfrm>
          <a:prstGeom prst="roundRect">
            <a:avLst>
              <a:gd name="adj" fmla="val 6410"/>
            </a:avLst>
          </a:prstGeom>
          <a:solidFill>
            <a:srgbClr val="14213D"/>
          </a:solidFill>
          <a:ln/>
        </p:spPr>
      </p:sp>
      <p:sp>
        <p:nvSpPr>
          <p:cNvPr id="14" name="Text 12"/>
          <p:cNvSpPr/>
          <p:nvPr/>
        </p:nvSpPr>
        <p:spPr>
          <a:xfrm>
            <a:off x="9135110" y="2308861"/>
            <a:ext cx="2049793"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7FB2F0"/>
                </a:solidFill>
                <a:latin typeface="Space Grotesk" pitchFamily="34" charset="0"/>
                <a:ea typeface="Space Grotesk" pitchFamily="34" charset="-122"/>
                <a:cs typeface="Space Grotesk" pitchFamily="34" charset="-120"/>
              </a:rPr>
              <a:t>0.746</a:t>
            </a:r>
            <a:endParaRPr lang="en-US" sz="4800" dirty="0"/>
          </a:p>
        </p:txBody>
      </p:sp>
      <p:sp>
        <p:nvSpPr>
          <p:cNvPr id="15" name="Text 13"/>
          <p:cNvSpPr/>
          <p:nvPr/>
        </p:nvSpPr>
        <p:spPr>
          <a:xfrm>
            <a:off x="9135110" y="3263900"/>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3EC"/>
                </a:solidFill>
                <a:latin typeface="IBM Plex Sans" pitchFamily="34" charset="0"/>
                <a:ea typeface="IBM Plex Sans" pitchFamily="34" charset="-122"/>
                <a:cs typeface="IBM Plex Sans" pitchFamily="34" charset="-120"/>
              </a:rPr>
              <a:t>+ agreement + query norm (ours)</a:t>
            </a:r>
            <a:endParaRPr lang="en-US" sz="1400" dirty="0"/>
          </a:p>
        </p:txBody>
      </p:sp>
      <p:sp>
        <p:nvSpPr>
          <p:cNvPr id="16" name="Text 14"/>
          <p:cNvSpPr/>
          <p:nvPr/>
        </p:nvSpPr>
        <p:spPr>
          <a:xfrm>
            <a:off x="812800" y="444246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scoring alone adds </a:t>
            </a:r>
            <a:r>
              <a:rPr lang="en-US" sz="1600" b="1" dirty="0">
                <a:solidFill>
                  <a:srgbClr val="4A5568"/>
                </a:solidFill>
                <a:latin typeface="IBM Plex Sans" pitchFamily="34" charset="0"/>
                <a:ea typeface="IBM Plex Sans" pitchFamily="34" charset="-122"/>
                <a:cs typeface="IBM Plex Sans" pitchFamily="34" charset="-120"/>
              </a:rPr>
              <a:t>+0.053 mADM</a:t>
            </a:r>
            <a:r>
              <a:rPr lang="en-US" sz="1600" dirty="0">
                <a:solidFill>
                  <a:srgbClr val="4A5568"/>
                </a:solidFill>
                <a:latin typeface="IBM Plex Sans" pitchFamily="34" charset="0"/>
                <a:ea typeface="IBM Plex Sans" pitchFamily="34" charset="-122"/>
                <a:cs typeface="IBM Plex Sans" pitchFamily="34" charset="-120"/>
              </a:rPr>
              <a:t> and lifts mAP from 0.233 to 0.360 over L1 with the same model, at zero extra compute.</a:t>
            </a:r>
            <a:endParaRPr lang="en-US" sz="16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Validation: 33,407 images, 3,462 queries · metrics re-implemented and checked against the official formulas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1458"/>
          </a:xfrm>
          <a:prstGeom prst="rect">
            <a:avLst/>
          </a:prstGeom>
          <a:noFill/>
          <a:ln/>
        </p:spPr>
        <p:txBody>
          <a:bodyPr wrap="square" lIns="0" tIns="0" rIns="0" bIns="0" rtlCol="0" anchor="t">
            <a:normAutofit/>
          </a:bodyPr>
          <a:lstStyle/>
          <a:p>
            <a:pPr algn="l" indent="0" marL="0">
              <a:lnSpc>
                <a:spcPts val="1621"/>
              </a:lnSpc>
              <a:buNone/>
            </a:pPr>
            <a:r>
              <a:rPr lang="en-US" sz="1158" spc="100" kern="0" dirty="0">
                <a:solidFill>
                  <a:srgbClr val="2A78D6"/>
                </a:solidFill>
                <a:latin typeface="JetBrains Mono" pitchFamily="49" charset="0"/>
                <a:ea typeface="JetBrains Mono" pitchFamily="49" charset="-122"/>
                <a:cs typeface="JetBrains Mono" pitchFamily="49" charset="-120"/>
              </a:rPr>
              <a:t>TRAINING BEHAVIOUR</a:t>
            </a:r>
            <a:endParaRPr lang="en-US" sz="1158" dirty="0"/>
          </a:p>
        </p:txBody>
      </p:sp>
      <p:sp>
        <p:nvSpPr>
          <p:cNvPr id="3" name="Text 1"/>
          <p:cNvSpPr/>
          <p:nvPr>
            <p:ph type="title"/>
          </p:nvPr>
        </p:nvSpPr>
        <p:spPr>
          <a:xfrm>
            <a:off x="812800" y="1120459"/>
            <a:ext cx="11379200" cy="922258"/>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14213D"/>
                </a:solidFill>
                <a:latin typeface="Space Grotesk" pitchFamily="34" charset="0"/>
                <a:ea typeface="Space Grotesk" pitchFamily="34" charset="-122"/>
                <a:cs typeface="Space Grotesk" pitchFamily="34" charset="-120"/>
              </a:rPr>
              <a:t>More training made retrieval worse after epoch 3</a:t>
            </a:r>
            <a:endParaRPr lang="en-US" sz="3521" dirty="0"/>
          </a:p>
        </p:txBody>
      </p:sp>
      <p:sp>
        <p:nvSpPr>
          <p:cNvPr id="4" name="Shape 2"/>
          <p:cNvSpPr/>
          <p:nvPr/>
        </p:nvSpPr>
        <p:spPr>
          <a:xfrm>
            <a:off x="812800" y="2271316"/>
            <a:ext cx="10566400" cy="3039904"/>
          </a:xfrm>
          <a:prstGeom prst="roundRect">
            <a:avLst>
              <a:gd name="adj" fmla="val 3342"/>
            </a:avLst>
          </a:prstGeom>
          <a:solidFill>
            <a:srgbClr val="FFFFFF"/>
          </a:solidFill>
          <a:ln/>
        </p:spPr>
      </p:sp>
      <p:pic>
        <p:nvPicPr>
          <p:cNvPr id="5" name="Image 0" descr="Training loss falls for 10 epochs while validation mADM peaks at 0.737 after epoch 3 and drops to 0.708 by epoch 10">    </p:cNvPr>
          <p:cNvPicPr>
            <a:picLocks noChangeAspect="1"/>
          </p:cNvPicPr>
          <p:nvPr/>
        </p:nvPicPr>
        <p:blipFill>
          <a:blip r:embed="rId1"/>
          <a:stretch>
            <a:fillRect/>
          </a:stretch>
        </p:blipFill>
        <p:spPr>
          <a:xfrm>
            <a:off x="1327523" y="2271316"/>
            <a:ext cx="9536953" cy="3039904"/>
          </a:xfrm>
          <a:prstGeom prst="rect">
            <a:avLst/>
          </a:prstGeom>
        </p:spPr>
      </p:pic>
      <p:sp>
        <p:nvSpPr>
          <p:cNvPr id="6" name="Text 3"/>
          <p:cNvSpPr/>
          <p:nvPr/>
        </p:nvSpPr>
        <p:spPr>
          <a:xfrm>
            <a:off x="812800" y="5565220"/>
            <a:ext cx="10883392" cy="505381"/>
          </a:xfrm>
          <a:prstGeom prst="rect">
            <a:avLst/>
          </a:prstGeom>
          <a:noFill/>
          <a:ln/>
        </p:spPr>
        <p:txBody>
          <a:bodyPr wrap="square" lIns="0" tIns="0" rIns="0" bIns="0" rtlCol="0" anchor="t">
            <a:normAutofit/>
          </a:bodyPr>
          <a:lstStyle/>
          <a:p>
            <a:pPr algn="l" indent="0" marL="0">
              <a:lnSpc>
                <a:spcPts val="1910"/>
              </a:lnSpc>
              <a:buNone/>
            </a:pPr>
            <a:r>
              <a:rPr lang="en-US" sz="1364" dirty="0">
                <a:solidFill>
                  <a:srgbClr val="4A5568"/>
                </a:solidFill>
                <a:latin typeface="IBM Plex Sans" pitchFamily="34" charset="0"/>
                <a:ea typeface="IBM Plex Sans" pitchFamily="34" charset="-122"/>
                <a:cs typeface="IBM Plex Sans" pitchFamily="34" charset="-120"/>
              </a:rPr>
              <a:t>Loss keeps falling, but the model over-fits the three training datasets. Under domain shift, </a:t>
            </a:r>
            <a:r>
              <a:rPr lang="en-US" sz="1364" b="1" dirty="0">
                <a:solidFill>
                  <a:srgbClr val="4A5568"/>
                </a:solidFill>
                <a:latin typeface="IBM Plex Sans" pitchFamily="34" charset="0"/>
                <a:ea typeface="IBM Plex Sans" pitchFamily="34" charset="-122"/>
                <a:cs typeface="IBM Plex Sans" pitchFamily="34" charset="-120"/>
              </a:rPr>
              <a:t>the number of epochs is the key regulariser</a:t>
            </a:r>
            <a:r>
              <a:rPr lang="en-US" sz="1364" dirty="0">
                <a:solidFill>
                  <a:srgbClr val="4A5568"/>
                </a:solidFill>
                <a:latin typeface="IBM Plex Sans" pitchFamily="34" charset="0"/>
                <a:ea typeface="IBM Plex Sans" pitchFamily="34" charset="-122"/>
                <a:cs typeface="IBM Plex Sans" pitchFamily="34" charset="-120"/>
              </a:rPr>
              <a:t>. All submitted models train for 3 epochs.</a:t>
            </a:r>
            <a:endParaRPr lang="en-US" sz="136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WHERE IT FAILS</a:t>
            </a:r>
            <a:endParaRPr lang="en-US" sz="1300" dirty="0"/>
          </a:p>
        </p:txBody>
      </p:sp>
      <p:sp>
        <p:nvSpPr>
          <p:cNvPr id="3" name="Text 1"/>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Rare attributes are the weak spot</a:t>
            </a:r>
            <a:endParaRPr lang="en-US" sz="3600" dirty="0"/>
          </a:p>
        </p:txBody>
      </p:sp>
      <p:sp>
        <p:nvSpPr>
          <p:cNvPr id="4" name="Shape 2"/>
          <p:cNvSpPr/>
          <p:nvPr/>
        </p:nvSpPr>
        <p:spPr>
          <a:xfrm>
            <a:off x="812800" y="1877061"/>
            <a:ext cx="10566400" cy="3302000"/>
          </a:xfrm>
          <a:prstGeom prst="roundRect">
            <a:avLst>
              <a:gd name="adj" fmla="val 3077"/>
            </a:avLst>
          </a:prstGeom>
          <a:solidFill>
            <a:srgbClr val="FFFFFF"/>
          </a:solidFill>
          <a:ln/>
        </p:spPr>
      </p:sp>
      <p:pic>
        <p:nvPicPr>
          <p:cNvPr id="5" name="Image 0" descr="Balanced accuracy per attribute, sorted: 'other' lower-body colour (0.60), sunglasses (0.62) and rare colours such as orange or green trousers are weakest; gender and clothing length are above 0.95">    </p:cNvPr>
          <p:cNvPicPr>
            <a:picLocks noChangeAspect="1"/>
          </p:cNvPicPr>
          <p:nvPr/>
        </p:nvPicPr>
        <p:blipFill>
          <a:blip r:embed="rId1"/>
          <a:stretch>
            <a:fillRect/>
          </a:stretch>
        </p:blipFill>
        <p:spPr>
          <a:xfrm>
            <a:off x="1524000" y="1877061"/>
            <a:ext cx="9144000" cy="3302000"/>
          </a:xfrm>
          <a:prstGeom prst="rect">
            <a:avLst/>
          </a:prstGeom>
        </p:spPr>
      </p:pic>
      <p:sp>
        <p:nvSpPr>
          <p:cNvPr id="6" name="Text 3"/>
          <p:cNvSpPr/>
          <p:nvPr/>
        </p:nvSpPr>
        <p:spPr>
          <a:xfrm>
            <a:off x="812800" y="540766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Gender and clothing length are above 95%. Sunglasses, “other” colours and colours with under 2% positives sit near 60–70%. A single wrong attribute breaks an exact match.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CHALLENGES</a:t>
            </a:r>
            <a:endParaRPr lang="en-US" sz="1300" dirty="0"/>
          </a:p>
        </p:txBody>
      </p:sp>
      <p:sp>
        <p:nvSpPr>
          <p:cNvPr id="3" name="Text 1"/>
          <p:cNvSpPr/>
          <p:nvPr>
            <p:ph type="title"/>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What made this hard</a:t>
            </a:r>
            <a:endParaRPr lang="en-US" sz="3600" dirty="0"/>
          </a:p>
        </p:txBody>
      </p:sp>
      <p:sp>
        <p:nvSpPr>
          <p:cNvPr id="4" name="Shape 2"/>
          <p:cNvSpPr/>
          <p:nvPr/>
        </p:nvSpPr>
        <p:spPr>
          <a:xfrm>
            <a:off x="812800" y="2004064"/>
            <a:ext cx="5194300" cy="1356360"/>
          </a:xfrm>
          <a:prstGeom prst="roundRect">
            <a:avLst>
              <a:gd name="adj" fmla="val 9363"/>
            </a:avLst>
          </a:prstGeom>
          <a:solidFill>
            <a:srgbClr val="FFFFFF"/>
          </a:solidFill>
          <a:ln/>
        </p:spPr>
      </p:sp>
      <p:sp>
        <p:nvSpPr>
          <p:cNvPr id="5" name="Text 3"/>
          <p:cNvSpPr/>
          <p:nvPr/>
        </p:nvSpPr>
        <p:spPr>
          <a:xfrm>
            <a:off x="1066800" y="2258064"/>
            <a:ext cx="48268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Unseen test cameras</a:t>
            </a:r>
            <a:endParaRPr lang="en-US" sz="1800" dirty="0"/>
          </a:p>
        </p:txBody>
      </p:sp>
      <p:sp>
        <p:nvSpPr>
          <p:cNvPr id="6" name="Text 4"/>
          <p:cNvSpPr/>
          <p:nvPr/>
        </p:nvSpPr>
        <p:spPr>
          <a:xfrm>
            <a:off x="1066800" y="2608579"/>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Validation peaks after 3 epochs; longer training over-fits the source datasets</a:t>
            </a:r>
            <a:endParaRPr lang="en-US" sz="1400" dirty="0"/>
          </a:p>
        </p:txBody>
      </p:sp>
      <p:sp>
        <p:nvSpPr>
          <p:cNvPr id="7" name="Shape 5"/>
          <p:cNvSpPr/>
          <p:nvPr/>
        </p:nvSpPr>
        <p:spPr>
          <a:xfrm>
            <a:off x="6184900" y="2004064"/>
            <a:ext cx="5194300" cy="1356360"/>
          </a:xfrm>
          <a:prstGeom prst="roundRect">
            <a:avLst>
              <a:gd name="adj" fmla="val 9363"/>
            </a:avLst>
          </a:prstGeom>
          <a:solidFill>
            <a:srgbClr val="FFFFFF"/>
          </a:solidFill>
          <a:ln/>
        </p:spPr>
      </p:sp>
      <p:sp>
        <p:nvSpPr>
          <p:cNvPr id="8" name="Text 6"/>
          <p:cNvSpPr/>
          <p:nvPr/>
        </p:nvSpPr>
        <p:spPr>
          <a:xfrm>
            <a:off x="6438900" y="2258064"/>
            <a:ext cx="48268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 hidden 4.5× slowdown</a:t>
            </a:r>
            <a:endParaRPr lang="en-US" sz="1800" dirty="0"/>
          </a:p>
        </p:txBody>
      </p:sp>
      <p:sp>
        <p:nvSpPr>
          <p:cNvPr id="9" name="Text 7"/>
          <p:cNvSpPr/>
          <p:nvPr/>
        </p:nvSpPr>
        <p:spPr>
          <a:xfrm>
            <a:off x="6438900" y="2608579"/>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PyTorch reports bfloat16 on the T4, but it is emulated: 30 vs 139 img/s until we fixed it</a:t>
            </a:r>
            <a:endParaRPr lang="en-US" sz="1400" dirty="0"/>
          </a:p>
        </p:txBody>
      </p:sp>
      <p:sp>
        <p:nvSpPr>
          <p:cNvPr id="10" name="Shape 8"/>
          <p:cNvSpPr/>
          <p:nvPr/>
        </p:nvSpPr>
        <p:spPr>
          <a:xfrm>
            <a:off x="812800" y="3538221"/>
            <a:ext cx="5194300" cy="1356360"/>
          </a:xfrm>
          <a:prstGeom prst="roundRect">
            <a:avLst>
              <a:gd name="adj" fmla="val 9363"/>
            </a:avLst>
          </a:prstGeom>
          <a:solidFill>
            <a:srgbClr val="FFFFFF"/>
          </a:solidFill>
          <a:ln/>
        </p:spPr>
      </p:sp>
      <p:sp>
        <p:nvSpPr>
          <p:cNvPr id="11" name="Text 9"/>
          <p:cNvSpPr/>
          <p:nvPr/>
        </p:nvSpPr>
        <p:spPr>
          <a:xfrm>
            <a:off x="1066800" y="3792221"/>
            <a:ext cx="48268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Free-GPU quotas</a:t>
            </a:r>
            <a:endParaRPr lang="en-US" sz="1800" dirty="0"/>
          </a:p>
        </p:txBody>
      </p:sp>
      <p:sp>
        <p:nvSpPr>
          <p:cNvPr id="12" name="Text 10"/>
          <p:cNvSpPr/>
          <p:nvPr/>
        </p:nvSpPr>
        <p:spPr>
          <a:xfrm>
            <a:off x="1066800" y="4142742"/>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Colab cut us off mid-run, so training resumes from per-epoch checkpoints on Drive</a:t>
            </a:r>
            <a:endParaRPr lang="en-US" sz="1400" dirty="0"/>
          </a:p>
        </p:txBody>
      </p:sp>
      <p:sp>
        <p:nvSpPr>
          <p:cNvPr id="13" name="Shape 11"/>
          <p:cNvSpPr/>
          <p:nvPr/>
        </p:nvSpPr>
        <p:spPr>
          <a:xfrm>
            <a:off x="6184900" y="3538221"/>
            <a:ext cx="5194300" cy="1356360"/>
          </a:xfrm>
          <a:prstGeom prst="roundRect">
            <a:avLst>
              <a:gd name="adj" fmla="val 9363"/>
            </a:avLst>
          </a:prstGeom>
          <a:solidFill>
            <a:srgbClr val="FFFFFF"/>
          </a:solidFill>
          <a:ln/>
        </p:spPr>
      </p:sp>
      <p:sp>
        <p:nvSpPr>
          <p:cNvPr id="14" name="Text 12"/>
          <p:cNvSpPr/>
          <p:nvPr/>
        </p:nvSpPr>
        <p:spPr>
          <a:xfrm>
            <a:off x="6438900" y="3792221"/>
            <a:ext cx="48268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Offline code submission</a:t>
            </a:r>
            <a:endParaRPr lang="en-US" sz="1800" dirty="0"/>
          </a:p>
        </p:txBody>
      </p:sp>
      <p:sp>
        <p:nvSpPr>
          <p:cNvPr id="15" name="Text 13"/>
          <p:cNvSpPr/>
          <p:nvPr/>
        </p:nvSpPr>
        <p:spPr>
          <a:xfrm>
            <a:off x="6438900" y="4142742"/>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Plain PyTorch only, 5 minutes: we rebuilt CLIP from scratch and verified it exactly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7FB2F0"/>
                </a:solidFill>
                <a:latin typeface="JetBrains Mono" pitchFamily="49" charset="0"/>
                <a:ea typeface="JetBrains Mono" pitchFamily="49" charset="-122"/>
                <a:cs typeface="JetBrains Mono" pitchFamily="49" charset="-120"/>
              </a:rPr>
              <a:t>CODABENCH · HIDDEN TEST SET</a:t>
            </a:r>
            <a:endParaRPr lang="en-US" sz="1300" dirty="0"/>
          </a:p>
        </p:txBody>
      </p:sp>
      <p:sp>
        <p:nvSpPr>
          <p:cNvPr id="3" name="Text 1"/>
          <p:cNvSpPr/>
          <p:nvPr>
            <p:ph type="title"/>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pace Grotesk" pitchFamily="34" charset="0"/>
                <a:ea typeface="Space Grotesk" pitchFamily="34" charset="-122"/>
                <a:cs typeface="Space Grotesk" pitchFamily="34" charset="-120"/>
              </a:rPr>
              <a:t>Final result: 0.624 mADM, rank 32</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63424"/>
          <a:ext cx="10556240" cy="2051050"/>
        </p:xfrm>
        <a:graphic>
          <a:graphicData uri="http://schemas.openxmlformats.org/drawingml/2006/table">
            <a:tbl>
              <a:tblPr/>
              <a:tblGrid>
                <a:gridCol w="4855870"/>
                <a:gridCol w="1900123"/>
                <a:gridCol w="1900123"/>
                <a:gridCol w="1900123"/>
              </a:tblGrid>
              <a:tr h="410210">
                <a:tc>
                  <a:txBody>
                    <a:bodyPr/>
                    <a:lstStyle/>
                    <a:p>
                      <a:pPr indent="0" marL="0">
                        <a:lnSpc>
                          <a:spcPts val="2100"/>
                        </a:lnSpc>
                        <a:buNone/>
                      </a:pPr>
                      <a:r>
                        <a:rPr lang="en-US" sz="1500" b="1" dirty="0">
                          <a:solidFill>
                            <a:srgbClr val="DCE3EC"/>
                          </a:solidFill>
                          <a:latin typeface="IBM Plex Sans" pitchFamily="34" charset="0"/>
                          <a:ea typeface="IBM Plex Sans" pitchFamily="34" charset="-122"/>
                          <a:cs typeface="IBM Plex Sans" pitchFamily="34" charset="-120"/>
                        </a:rPr>
                        <a:t>Submission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2100"/>
                        </a:lnSpc>
                        <a:buNone/>
                      </a:pPr>
                      <a:r>
                        <a:rPr lang="en-US" sz="1500" b="1" dirty="0">
                          <a:solidFill>
                            <a:srgbClr val="DCE3EC"/>
                          </a:solidFill>
                          <a:latin typeface="IBM Plex Sans" pitchFamily="34" charset="0"/>
                          <a:ea typeface="IBM Plex Sans" pitchFamily="34" charset="-122"/>
                          <a:cs typeface="IBM Plex Sans" pitchFamily="34" charset="-120"/>
                        </a:rPr>
                        <a:t>mADM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2100"/>
                        </a:lnSpc>
                        <a:buNone/>
                      </a:pPr>
                      <a:r>
                        <a:rPr lang="en-US" sz="1500" b="1" dirty="0">
                          <a:solidFill>
                            <a:srgbClr val="DCE3EC"/>
                          </a:solidFill>
                          <a:latin typeface="IBM Plex Sans" pitchFamily="34" charset="0"/>
                          <a:ea typeface="IBM Plex Sans" pitchFamily="34" charset="-122"/>
                          <a:cs typeface="IBM Plex Sans" pitchFamily="34" charset="-120"/>
                        </a:rPr>
                        <a:t>mAP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algn="r" indent="0" marL="0">
                        <a:lnSpc>
                          <a:spcPts val="2100"/>
                        </a:lnSpc>
                        <a:buNone/>
                      </a:pPr>
                      <a:r>
                        <a:rPr lang="en-US" sz="1500" b="1" dirty="0">
                          <a:solidFill>
                            <a:srgbClr val="DCE3EC"/>
                          </a:solidFill>
                          <a:latin typeface="IBM Plex Sans" pitchFamily="34" charset="0"/>
                          <a:ea typeface="IBM Plex Sans" pitchFamily="34" charset="-122"/>
                          <a:cs typeface="IBM Plex Sans" pitchFamily="34" charset="-120"/>
                        </a:rPr>
                        <a:t>Rank-1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410210">
                <a:tc>
                  <a:txBody>
                    <a:bodyPr/>
                    <a:lstStyle/>
                    <a:p>
                      <a:pP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Train only, 3 epochs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0.619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0.348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0.378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0210">
                <a:tc>
                  <a:txBody>
                    <a:bodyPr/>
                    <a:lstStyle/>
                    <a:p>
                      <a:pP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Train + val, 3 epochs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0.613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0.339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0.359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0210">
                <a:tc>
                  <a:txBody>
                    <a:bodyPr/>
                    <a:lstStyle/>
                    <a:p>
                      <a:pP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Ensemble of both (final)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F5B76"/>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F5B76"/>
                      </a:solidFill>
                      <a:prstDash val="solid"/>
                      <a:round/>
                      <a:headEnd type="none" w="med" len="med"/>
                      <a:tailEnd type="none" w="med" len="med"/>
                    </a:lnB>
                    <a:solidFill>
                      <a:srgbClr val="1F2F52"/>
                    </a:solidFill>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0.624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F5B76"/>
                      </a:solidFill>
                      <a:prstDash val="solid"/>
                      <a:round/>
                      <a:headEnd type="none" w="med" len="med"/>
                      <a:tailEnd type="none" w="med" len="med"/>
                    </a:lnL>
                    <a:lnR w="12700" cap="flat" cmpd="sng" algn="ctr">
                      <a:solidFill>
                        <a:srgbClr val="4F5B76"/>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F5B76"/>
                      </a:solidFill>
                      <a:prstDash val="solid"/>
                      <a:round/>
                      <a:headEnd type="none" w="med" len="med"/>
                      <a:tailEnd type="none" w="med" len="med"/>
                    </a:lnB>
                    <a:solidFill>
                      <a:srgbClr val="1F2F52"/>
                    </a:solidFill>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0.353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F5B76"/>
                      </a:solidFill>
                      <a:prstDash val="solid"/>
                      <a:round/>
                      <a:headEnd type="none" w="med" len="med"/>
                      <a:tailEnd type="none" w="med" len="med"/>
                    </a:lnL>
                    <a:lnR w="12700" cap="flat" cmpd="sng" algn="ctr">
                      <a:solidFill>
                        <a:srgbClr val="4F5B76"/>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F5B76"/>
                      </a:solidFill>
                      <a:prstDash val="solid"/>
                      <a:round/>
                      <a:headEnd type="none" w="med" len="med"/>
                      <a:tailEnd type="none" w="med" len="med"/>
                    </a:lnB>
                    <a:solidFill>
                      <a:srgbClr val="1F2F52"/>
                    </a:solidFill>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0.385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F5B76"/>
                      </a:solidFill>
                      <a:prstDash val="solid"/>
                      <a:round/>
                      <a:headEnd type="none" w="med" len="med"/>
                      <a:tailEnd type="none" w="med" len="med"/>
                    </a:lnL>
                    <a:lnR w="12700" cap="flat" cmpd="sng" algn="ctr">
                      <a:solidFill>
                        <a:srgbClr val="4F5B76"/>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F5B76"/>
                      </a:solidFill>
                      <a:prstDash val="solid"/>
                      <a:round/>
                      <a:headEnd type="none" w="med" len="med"/>
                      <a:tailEnd type="none" w="med" len="med"/>
                    </a:lnB>
                    <a:solidFill>
                      <a:srgbClr val="1F2F52"/>
                    </a:solidFill>
                  </a:tcPr>
                </a:tc>
              </a:tr>
              <a:tr h="410210">
                <a:tc>
                  <a:txBody>
                    <a:bodyPr/>
                    <a:lstStyle/>
                    <a:p>
                      <a:pP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Winner, for reference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F5B76"/>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0.699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F5B76"/>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0.416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F5B76"/>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algn="r" indent="0" marL="0">
                        <a:lnSpc>
                          <a:spcPts val="2100"/>
                        </a:lnSpc>
                        <a:buNone/>
                      </a:pPr>
                      <a:r>
                        <a:rPr lang="en-US" sz="1500" dirty="0">
                          <a:solidFill>
                            <a:srgbClr val="DCE3EC"/>
                          </a:solidFill>
                          <a:latin typeface="IBM Plex Sans" pitchFamily="34" charset="0"/>
                          <a:ea typeface="IBM Plex Sans" pitchFamily="34" charset="-122"/>
                          <a:cs typeface="IBM Plex Sans" pitchFamily="34" charset="-120"/>
                        </a:rPr>
                        <a:t>0.397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F5B76"/>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
        <p:nvSpPr>
          <p:cNvPr id="5" name="Text 2"/>
          <p:cNvSpPr/>
          <p:nvPr/>
        </p:nvSpPr>
        <p:spPr>
          <a:xfrm>
            <a:off x="812800" y="431927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CE3EC"/>
                </a:solidFill>
                <a:latin typeface="IBM Plex Sans" pitchFamily="34" charset="0"/>
                <a:ea typeface="IBM Plex Sans" pitchFamily="34" charset="-122"/>
                <a:cs typeface="IBM Plex Sans" pitchFamily="34" charset="-120"/>
              </a:rPr>
              <a:t>More source data alone did not help; averaging two models did, on every metric. Test mAP matches validation, so the remaining gap is how the model orders near misses on new cameras.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78D6"/>
                </a:solidFill>
                <a:latin typeface="JetBrains Mono" pitchFamily="49" charset="0"/>
                <a:ea typeface="JetBrains Mono" pitchFamily="49" charset="-122"/>
                <a:cs typeface="JetBrains Mono" pitchFamily="49" charset="-120"/>
              </a:rPr>
              <a:t>NEXT STEPS</a:t>
            </a:r>
            <a:endParaRPr lang="en-US" sz="1300" dirty="0"/>
          </a:p>
        </p:txBody>
      </p:sp>
      <p:sp>
        <p:nvSpPr>
          <p:cNvPr id="3" name="Text 1"/>
          <p:cNvSpPr/>
          <p:nvPr>
            <p:ph type="title"/>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What we would do with more time</a:t>
            </a:r>
            <a:endParaRPr lang="en-US" sz="3600" dirty="0"/>
          </a:p>
        </p:txBody>
      </p:sp>
      <p:sp>
        <p:nvSpPr>
          <p:cNvPr id="4" name="Text 2"/>
          <p:cNvSpPr/>
          <p:nvPr/>
        </p:nvSpPr>
        <p:spPr>
          <a:xfrm>
            <a:off x="812800" y="2691129"/>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Ensembles</a:t>
            </a:r>
            <a:r>
              <a:rPr lang="en-US" sz="1800" dirty="0">
                <a:solidFill>
                  <a:srgbClr val="14213D"/>
                </a:solidFill>
                <a:latin typeface="IBM Plex Sans" pitchFamily="34" charset="0"/>
                <a:ea typeface="IBM Plex Sans" pitchFamily="34" charset="-122"/>
                <a:cs typeface="IBM Plex Sans" pitchFamily="34" charset="-120"/>
              </a:rPr>
              <a:t> </a:t>
            </a:r>
            <a:r>
              <a:rPr lang="en-US" sz="1800" dirty="0">
                <a:solidFill>
                  <a:srgbClr val="4A5568"/>
                </a:solidFill>
                <a:latin typeface="IBM Plex Sans" pitchFamily="34" charset="0"/>
                <a:ea typeface="IBM Plex Sans" pitchFamily="34" charset="-122"/>
                <a:cs typeface="IBM Plex Sans" pitchFamily="34" charset="-120"/>
              </a:rPr>
              <a:t>of seeds or ViT-B + ViT-L/14 for better-calibrated probabilities</a:t>
            </a:r>
            <a:endParaRPr lang="en-US" sz="1800" dirty="0"/>
          </a:p>
        </p:txBody>
      </p:sp>
      <p:sp>
        <p:nvSpPr>
          <p:cNvPr id="5" name="Text 3"/>
          <p:cNvSpPr/>
          <p:nvPr/>
        </p:nvSpPr>
        <p:spPr>
          <a:xfrm>
            <a:off x="812800" y="3188971"/>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Group-aware heads</a:t>
            </a:r>
            <a:r>
              <a:rPr lang="en-US" sz="1800" dirty="0">
                <a:solidFill>
                  <a:srgbClr val="14213D"/>
                </a:solidFill>
                <a:latin typeface="IBM Plex Sans" pitchFamily="34" charset="0"/>
                <a:ea typeface="IBM Plex Sans" pitchFamily="34" charset="-122"/>
                <a:cs typeface="IBM Plex Sans" pitchFamily="34" charset="-120"/>
              </a:rPr>
              <a:t> </a:t>
            </a:r>
            <a:r>
              <a:rPr lang="en-US" sz="1800" dirty="0">
                <a:solidFill>
                  <a:srgbClr val="4A5568"/>
                </a:solidFill>
                <a:latin typeface="IBM Plex Sans" pitchFamily="34" charset="0"/>
                <a:ea typeface="IBM Plex Sans" pitchFamily="34" charset="-122"/>
                <a:cs typeface="IBM Plex Sans" pitchFamily="34" charset="-120"/>
              </a:rPr>
              <a:t>for one-of-many attributes such as age and clothing colour</a:t>
            </a:r>
            <a:endParaRPr lang="en-US" sz="1800" dirty="0"/>
          </a:p>
        </p:txBody>
      </p:sp>
      <p:sp>
        <p:nvSpPr>
          <p:cNvPr id="6" name="Text 4"/>
          <p:cNvSpPr/>
          <p:nvPr/>
        </p:nvSpPr>
        <p:spPr>
          <a:xfrm>
            <a:off x="812800" y="3686814"/>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Rare-attribute training</a:t>
            </a:r>
            <a:r>
              <a:rPr lang="en-US" sz="1800" dirty="0">
                <a:solidFill>
                  <a:srgbClr val="14213D"/>
                </a:solidFill>
                <a:latin typeface="IBM Plex Sans" pitchFamily="34" charset="0"/>
                <a:ea typeface="IBM Plex Sans" pitchFamily="34" charset="-122"/>
                <a:cs typeface="IBM Plex Sans" pitchFamily="34" charset="-120"/>
              </a:rPr>
              <a:t> </a:t>
            </a:r>
            <a:r>
              <a:rPr lang="en-US" sz="1800" dirty="0">
                <a:solidFill>
                  <a:srgbClr val="4A5568"/>
                </a:solidFill>
                <a:latin typeface="IBM Plex Sans" pitchFamily="34" charset="0"/>
                <a:ea typeface="IBM Plex Sans" pitchFamily="34" charset="-122"/>
                <a:cs typeface="IBM Plex Sans" pitchFamily="34" charset="-120"/>
              </a:rPr>
              <a:t>with balanced or focal loss, then re-calibration</a:t>
            </a:r>
            <a:endParaRPr lang="en-US" sz="1800" dirty="0"/>
          </a:p>
        </p:txBody>
      </p:sp>
      <p:sp>
        <p:nvSpPr>
          <p:cNvPr id="7" name="Text 5"/>
          <p:cNvSpPr/>
          <p:nvPr/>
        </p:nvSpPr>
        <p:spPr>
          <a:xfrm>
            <a:off x="812800" y="418465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A retrieval-aware loss</a:t>
            </a:r>
            <a:r>
              <a:rPr lang="en-US" sz="1800" dirty="0">
                <a:solidFill>
                  <a:srgbClr val="14213D"/>
                </a:solidFill>
                <a:latin typeface="IBM Plex Sans" pitchFamily="34" charset="0"/>
                <a:ea typeface="IBM Plex Sans" pitchFamily="34" charset="-122"/>
                <a:cs typeface="IBM Plex Sans" pitchFamily="34" charset="-120"/>
              </a:rPr>
              <a:t> </a:t>
            </a:r>
            <a:r>
              <a:rPr lang="en-US" sz="1800" dirty="0">
                <a:solidFill>
                  <a:srgbClr val="4A5568"/>
                </a:solidFill>
                <a:latin typeface="IBM Plex Sans" pitchFamily="34" charset="0"/>
                <a:ea typeface="IBM Plex Sans" pitchFamily="34" charset="-122"/>
                <a:cs typeface="IBM Plex Sans" pitchFamily="34" charset="-120"/>
              </a:rPr>
              <a:t>that optimises the ranking directly</a:t>
            </a:r>
            <a:endParaRPr lang="en-US" sz="1800" dirty="0"/>
          </a:p>
        </p:txBody>
      </p:sp>
      <p:sp>
        <p:nvSpPr>
          <p:cNvPr id="8" name="Text 6"/>
          <p:cNvSpPr/>
          <p:nvPr/>
        </p:nvSpPr>
        <p:spPr>
          <a:xfrm>
            <a:off x="812800" y="5547364"/>
            <a:ext cx="10883392"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A78D6"/>
                </a:solidFill>
                <a:latin typeface="Space Grotesk" pitchFamily="34" charset="0"/>
                <a:ea typeface="Space Grotesk" pitchFamily="34" charset="-122"/>
                <a:cs typeface="Space Grotesk" pitchFamily="34" charset="-120"/>
              </a:rPr>
              <a:t>Thank you · Questions?</a:t>
            </a:r>
            <a:endParaRPr lang="en-US" sz="2800" dirty="0"/>
          </a:p>
        </p:txBody>
      </p:sp>
    </p:spTree>
  </p:cSld>
  <p:clrMapOvr>
    <a:masterClrMapping/>
  </p:clrMapOvr>
</p:sld>
</file>

<file path=ppt/theme/theme1.xml><?xml version="1.0" encoding="utf-8"?>
<a:theme xmlns:a="http://schemas.openxmlformats.org/drawingml/2006/main" name="UPAR Track 2 Demo">
  <a:themeElements>
    <a:clrScheme name="UPAR Track 2 Demo">
      <a:dk1>
        <a:srgbClr val="14213D"/>
      </a:dk1>
      <a:lt1>
        <a:srgbClr val="F7F6F2"/>
      </a:lt1>
      <a:dk2>
        <a:srgbClr val="4D566A"/>
      </a:dk2>
      <a:lt2>
        <a:srgbClr val="E0E1E0"/>
      </a:lt2>
      <a:accent1>
        <a:srgbClr val="2A78D6"/>
      </a:accent1>
      <a:accent2>
        <a:srgbClr val="7FB2F0"/>
      </a:accent2>
      <a:accent3>
        <a:srgbClr val="4A5568"/>
      </a:accent3>
      <a:accent4>
        <a:srgbClr val="DCE3EC"/>
      </a:accent4>
      <a:accent5>
        <a:srgbClr val="BFCCE0"/>
      </a:accent5>
      <a:accent6>
        <a:srgbClr val="6B7280"/>
      </a:accent6>
      <a:hlink>
        <a:srgbClr val="0563C1"/>
      </a:hlink>
      <a:folHlink>
        <a:srgbClr val="954F72"/>
      </a:folHlink>
    </a:clrScheme>
    <a:fontScheme name="UPAR Track 2 Dem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UPAR Track 2 Demo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2026-10-27T13:19:50Z</dcterms:created>
  <dcterms:modified xsi:type="dcterms:W3CDTF">2026-10-27T13:19:50Z</dcterms:modified>
</cp:coreProperties>
</file>